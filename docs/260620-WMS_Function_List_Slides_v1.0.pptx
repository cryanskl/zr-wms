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开场:今天我们一起把 WMS 第一版的范围定下来。这次会议结束,我们希望拿到三件事:第一,P0/P1/P2 的功能拆分双方认可;第二,9 个待确认问题有明确答复;第三,在最后一页签字,作为后续开发的基线。预计 2 小时。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过一下今天的流程,这样大家心里有数。重点是第二、四步——先把不做的事情确认了,再把悬而未决的问题答完,其他都是细节。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强调一句:这一版的核心是把微信群里的库存信息变成可查、可追溯、可确认的结构化数据。功能不求多,先把这四个'快和准'做到。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整体形态没什么悬念,但有一点要重点确认:数据放云上还是放本地。这点在后面问题清单里会问。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这是今天最重要的一页。请逐条确认。客户如果对某一条有意见——比如非要伪3D——这里就要谈,谈完再决定要不要把它从P1挪进P0,或者放弃。这一步过了,后面就是讲'做什么',会顺很多。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产品管理是其他所有模块的基础。重点确认两件事:别名怎么用、要不要做批次。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库位模型决定了整个系统的扩展性。请客户特别确认 F2.5 和 F2.6——消防栓、三列两筐、一筐多产品这些边界规则。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强调这一页是系统的核心价值。其他模块都是'让查询保持准确'的支撑。如果客户对这一页所有 P0 都满意,说明我们抓对了重点。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是配方,是这家公司的核心机密。重点确认权限谁能看,版本要不要做。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订单是这套系统的另一个枢纽。F7.3 批量导入的 Excel 格式必须看到样本才能定。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再过一遍这两栏。客户如果想从右栏挪一项到左栏,要立刻问代价——这是控制范围蔓延的关键时刻。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这一页要现场逐条问。最右栏「客户答复」请记录人当场填。13 个问题预计 30-40 分钟。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0"/>
            <a:ext cx="374904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137160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114800"/>
            <a:ext cx="3657600" cy="3657600"/>
          </a:xfrm>
          <a:prstGeom prst="ellipse">
            <a:avLst/>
          </a:prstGeom>
          <a:solidFill>
            <a:srgbClr val="F2A541">
              <a:alpha val="25000"/>
            </a:srgbClr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仓库管理系统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功能清单评审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记得快  ·  记得准  ·  查得快  ·  查得准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943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C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 v1.0   |   日期 2026-06-20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今天会议怎么走</a:t>
            </a:r>
            <a:endParaRPr lang="en-US" sz="28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731520" y="169164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731520" y="16916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645920" y="1645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对齐定位与目标</a:t>
            </a:r>
            <a:endParaRPr lang="en-US" sz="18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645920" y="202996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我们要解决什么问题、做成什么样</a:t>
            </a:r>
            <a:endParaRPr lang="en-US" sz="1300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731520" y="279654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731520" y="27965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1645920" y="27508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第一版「不做」清单</a:t>
            </a:r>
            <a:endParaRPr lang="en-US" sz="1800" dirty="0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1645920" y="313486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先确认范围边界,避免后期扯皮</a:t>
            </a:r>
            <a:endParaRPr lang="en-US" sz="1300" dirty="0"/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731520" y="394081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731520" y="394081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1645920" y="389509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个功能模块逐项过 P0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1645920" y="427913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P1/P2 略过提及</a:t>
            </a:r>
            <a:endParaRPr lang="en-US" sz="1300" dirty="0"/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731520" y="4986655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731520" y="4986655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1645920" y="4940935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个待确认问题答复</a:t>
            </a:r>
            <a:endParaRPr lang="en-US" sz="1800" dirty="0"/>
          </a:p>
        </p:txBody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1645920" y="5324983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现场记录每条答复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92640" y="1645920"/>
            <a:ext cx="1737360" cy="411480"/>
          </a:xfrm>
          <a:prstGeom prst="roundRect">
            <a:avLst>
              <a:gd name="adj" fmla="val 22222"/>
            </a:avLst>
          </a:prstGeom>
          <a:solidFill>
            <a:srgbClr val="F4F7FA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164592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预计 0.5 小时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功能清单 v1.0 · 2026-06-20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系统定位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我们要解决什么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669280" cy="4572000"/>
          </a:xfrm>
          <a:prstGeom prst="roundRect">
            <a:avLst>
              <a:gd name="adj" fmla="val 1600"/>
            </a:avLst>
          </a:prstGeom>
          <a:solidFill>
            <a:srgbClr val="F4F7FA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现状的痛点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59152"/>
            <a:ext cx="292608" cy="292608"/>
          </a:xfrm>
          <a:prstGeom prst="ellipse">
            <a:avLst/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5915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名称混乱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6517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五个人录入,叫法不同,同一产品多种写法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227832"/>
            <a:ext cx="292608" cy="292608"/>
          </a:xfrm>
          <a:prstGeom prst="ellipse">
            <a:avLst/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2783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154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难以追溯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5204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微信群里记的,时间和产品对不上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096512"/>
            <a:ext cx="292608" cy="292608"/>
          </a:xfrm>
          <a:prstGeom prst="ellipse">
            <a:avLst/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9651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0233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多人冲突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3891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出入库责任不清,数据不一致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965192"/>
            <a:ext cx="292608" cy="292608"/>
          </a:xfrm>
          <a:prstGeom prst="ellipse">
            <a:avLst/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9651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8920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查找低效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5257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找一个产品要翻聊天记录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155448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0" y="17373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第一版要做到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66560" y="2359152"/>
            <a:ext cx="292608" cy="292608"/>
          </a:xfrm>
          <a:prstGeom prst="ellipse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35915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22860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记得快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26517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录一笔库存不超过十几秒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66560" y="3227832"/>
            <a:ext cx="292608" cy="292608"/>
          </a:xfrm>
          <a:prstGeom prst="ellipse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322783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23760" y="31546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记得准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23760" y="35204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别名归集、流水留痕、不能瞎删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66560" y="4096512"/>
            <a:ext cx="292608" cy="292608"/>
          </a:xfrm>
          <a:prstGeom prst="ellipse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409651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23760" y="40233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查得快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23760" y="43891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模糊搜索,1 秒内返回结果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66560" y="4965192"/>
            <a:ext cx="292608" cy="292608"/>
          </a:xfrm>
          <a:prstGeom prst="ellipse">
            <a:avLst/>
          </a:prstGeom>
          <a:solidFill>
            <a:srgbClr val="5B8C5A"/>
          </a:solidFill>
          <a:ln w="12700">
            <a:solidFill>
              <a:srgbClr val="5B8C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9651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223760" y="48920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查得准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223760" y="52578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实物和系统数据可对账,可盘点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功能清单 v1.0 · 2026-06-20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系统定位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整体形态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212848" cy="32004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11680"/>
            <a:ext cx="18470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847088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云服务器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1847088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数据存放方式待最终确认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52928" y="1828800"/>
            <a:ext cx="2212848" cy="32004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35808" y="2011680"/>
            <a:ext cx="18470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访问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35808" y="2606040"/>
            <a:ext cx="1847088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响应式网页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35808" y="3931920"/>
            <a:ext cx="1847088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电脑 + 手机浏览器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57216" y="1828800"/>
            <a:ext cx="2212848" cy="32004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40096" y="2011680"/>
            <a:ext cx="18470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40096" y="2606040"/>
            <a:ext cx="1847088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App / 无小程序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40096" y="3931920"/>
            <a:ext cx="1847088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第一版统一走网页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61504" y="1828800"/>
            <a:ext cx="2212848" cy="32004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44384" y="2011680"/>
            <a:ext cx="18470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使用人数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44384" y="2606040"/>
            <a:ext cx="1847088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 人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44384" y="3931920"/>
            <a:ext cx="1847088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并发压力低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65792" y="1828800"/>
            <a:ext cx="2212848" cy="32004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948672" y="2011680"/>
            <a:ext cx="18470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数据规模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48672" y="2606040"/>
            <a:ext cx="1847088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万 SKU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948672" y="3931920"/>
            <a:ext cx="1847088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每种最多约 2 万件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54864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关键决策:为什么选响应式网页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一套代码,电脑/手机自适应;不依赖微信生态;改动即时生效;后续若要做小程序或 App,后端无需重做。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功能清单 v1.0 · 2026-06-20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范围边界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第一版「明确不做」的事情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先确认这些不做,后面所有功能讨论才不会失控。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365760" cy="365760"/>
          </a:xfrm>
          <a:prstGeom prst="ellipse">
            <a:avLst/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0116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伪 3D 货架图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450592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平面 + 色块标识替代,二期再做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057400"/>
            <a:ext cx="365760" cy="365760"/>
          </a:xfrm>
          <a:prstGeom prst="ellipse">
            <a:avLst/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高级报表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450592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日/周/月报、呆滞库存、利用率,二期再做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2057400"/>
            <a:ext cx="365760" cy="365760"/>
          </a:xfrm>
          <a:prstGeom prst="ellipse">
            <a:avLst/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78240" y="20116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版本管理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78240" y="2450592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配方修改历史追溯,二期再做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703320"/>
            <a:ext cx="365760" cy="365760"/>
          </a:xfrm>
          <a:prstGeom prst="ellipse">
            <a:avLst/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703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65760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替代料、多层 BOM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4096512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复杂配方逻辑,三期或后续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34747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3703320"/>
            <a:ext cx="365760" cy="365760"/>
          </a:xfrm>
          <a:prstGeom prst="ellipse">
            <a:avLst/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703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0" y="365760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产品价格管理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29200" y="4096512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仅预留字段,不实现价格逻辑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34747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75320" y="3703320"/>
            <a:ext cx="365760" cy="365760"/>
          </a:xfrm>
          <a:prstGeom prst="ellipse">
            <a:avLst/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5320" y="3703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778240" y="365760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对接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778240" y="4096512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视客户 ERP 情况单独评估,二期再议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请逐条确认:同意 / 调整 / 移入第一版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功能清单 v1.0 · 2026-06-20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功能模块 · 4.1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产品管理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1737360"/>
          <a:ext cx="11064240" cy="370332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7040880"/>
                <a:gridCol w="109728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编号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优先级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F1.1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产品基础信息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产品编号、名称、类型(原材料/半成品/成品/配件)、规格、单位、备注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F1.2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产品别名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可绑多个别名(如「带管子」),搜索时同时命中;别名可被多个产品共用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F1.3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产品标签(分类)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汽配 / 易碎 / 危险品 等分类,与别名分开管理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F1.4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产品图片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每个产品可上传图片(数量待确认)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F1.5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产品状态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成品 / 半成品 / 原材料 / 配件 / 不良品 的状态区分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F1.6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产品属性扩展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可附加属性(是否带管子、是否带铝板、是否带防尘罩)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F1.7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批次管理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进货批次 / 出货批次 / 产品批次(待确认)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F1.8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价格管理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原材料 / 订单 / 出库价格,第一版仅预留字段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C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功能清单 v1.0 · 2026-06-20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功能模块 · 4.2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库位与仓库管理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1737360"/>
          <a:ext cx="11064240" cy="370332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7040880"/>
                <a:gridCol w="109728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编号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优先级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F2.1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多仓库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支持 3 个及以上仓库,未来可继续增加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F2.2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库位编码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W1-R03-C12-L2-A:仓库 / 货架排 / 列 / 层 / 前后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F2.3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结构自定义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仓库数、货架排、每排列数、每列层数、每层筐数均可调整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F2.4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模板复制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新仓库 / 新货架可基于已有模板快速创建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F2.5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特殊库位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可标记不可用(如消防栓)、合并位、状态及原因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F2.6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一筐多产品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允许一个筐里放多个产品(规则待确认)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F2.7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库位查询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按库位查上面有什么产品、各多少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F2.8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伪 3D 货架图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前端用伪 3D 展示货架与库位状态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功能清单 v1.0 · 2026-06-20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功能模块 · 4.3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出入库与移库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1737360"/>
          <a:ext cx="11064240" cy="329184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7040880"/>
                <a:gridCol w="109728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编号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优先级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F3.1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入库登记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采购 / 原材料 / 配件 / 半成品 / 成品 / 退货 / 损耗入库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F3.2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出库登记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成品 / 半成品 / 配件 / 损耗出库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F3.3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移库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库位间产品移动、合并到其他库位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F3.4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库存调整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人工调整数量,必须填原因,自动生成流水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F3.5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撤销 / 冲正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误操作由管理员冲正;原记录与冲正记录都保留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F3.6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日期记录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可记录采购日期 / 生产日期 / 入库日期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F3.7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操作备注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每次操作可附文字备注,便于事后追溯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功能清单 v1.0 · 2026-06-20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功能模块 · 4.4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查询与搜索  ⭐ 系统核心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整个系统价值的核心 — 客户痛点就在这一页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737360"/>
          <a:ext cx="11064240" cy="370332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7040880"/>
                <a:gridCol w="109728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编号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优先级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F4.1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模糊搜索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输入「399 151」可命中「4B0 399 151」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F4.2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按产品编号查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返回该产品在所有库位的分布与数量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F4.3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按别名查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命中所有绑定该别名的产品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F4.4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按标签 / 备注查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按分类标签或备注关键字筛选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F4.5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按库位查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列出该库位上所有产品及数量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F4.6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历史流水查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查某产品的历史出入库(可按时间/操作人筛选)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F4.7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跨仓库查询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一次查询显示该产品在所有仓库的分布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F4.8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最近使用快捷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首页显示最近填写产品 ID、最近订单产品 ID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功能清单 v1.0 · 2026-06-20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功能模块 · 4.5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流水与日志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1737360"/>
          <a:ext cx="11064240" cy="205740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7040880"/>
                <a:gridCol w="109728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编号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优先级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F5.1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出入库流水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每次变动生成流水:产品 / 库位 / 数量 / 操作人 / 时间 / 原因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F5.2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流水不删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只能作废(保留原记录),不能真删除,保证追溯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F5.3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操作日志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产品 / 库位 / 配置 等系统操作均留痕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F5.4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组合检索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按操作人 / 时间段 / 产品 / 库位 / 操作类型 组合查询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功能清单 v1.0 · 2026-06-20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功能模块 · 4.6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BOM(配方)管理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40" y="1737360"/>
          <a:ext cx="11064240" cy="329184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7040880"/>
                <a:gridCol w="109728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编号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优先级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F6.1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基础管理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维护「成品 = N×半成品 + M×原料」;原料-半成品多对多、半成品-成品多对一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F6.2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关联展示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产品页面可查看:上游构成 / 下游用途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F6.3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产能推算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选择原料 → 点击计算 → 显示能做多少半成品 / 成品(非实时)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F6.4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权限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配方涉及商业机密,按权限决定可见性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F6.5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版本管理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记录配方修改历史,可追溯历史版本(待确认)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F6.6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替代料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缺货时可指定 B 作为替代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C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F6.7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多层 BOM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超过「原料-半成品-成品」三层的配方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C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功能清单 v1.0 · 2026-06-20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功能模块 · 4.7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订单管理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48640" y="1737360"/>
          <a:ext cx="11064240" cy="329184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7040880"/>
                <a:gridCol w="109728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编号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优先级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F7.1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订单基础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订单号、客户、产品、数量、交期、状态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F7.2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订单状态机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待处理 / 部分缺料 / 已预留 / 已出库 / 部分出库 / 完成 / 取消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F7.3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批量导入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批量导入(格式待确认)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F7.4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库存预留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订单预留时,相应数量自动从「可用」转入「冻结」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F7.5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订单匹配推算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选定订单 → 点击计算 → 显示能否满足、差几个原料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F7.6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别名绑定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订单产品名可绑定到系统中的别名,自动归集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F7.7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拆分出库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一个订单可分多次出库(规则待确认)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功能清单 v1.0 · 2026-06-20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功能模块 · 4.8 / 4.9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盘点与预警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 盘点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 必做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22402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F8.1  盘点单生成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260604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选定区域(仓库/货架/库位)生成盘点单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 必做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32004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F8.2  实盘录入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356616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录入实际数量,系统算与账面差异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420624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0624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 必做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41605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F8.3  差异审核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20240" y="452628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审核后生成调整单,更新库存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516636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16636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二期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20240" y="51206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F8.4  盘点提醒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20240" y="548640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设定频率(周/月/季)自动提醒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1554480"/>
            <a:ext cx="530352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37960" y="16916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 预警与防错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0" y="228600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228600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 必做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0" y="224028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F9.1  库存不足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80960" y="255117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出库时库存不足,禁止或需审核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0" y="306324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06324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 必做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0" y="301752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F9.2  订单占用冲突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80960" y="332841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已被预留时再次出库提示冲突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83680" y="384048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384048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 必做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80960" y="379476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F9.3  并发修改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680960" y="410565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两人同改一条,后保存方提示重试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83680" y="461772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461772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 必做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80960" y="457200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F9.4  容量上限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80960" y="488289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库位 / 筐设置容量上限,超限报警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83680" y="539496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5394960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二期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680960" y="534924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F9.5  低库存阈值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680960" y="566013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可设最低库存,低于阈值自动提醒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功能清单 v1.0 · 2026-06-20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功能模块 · 4.10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报表与导入导出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48640" y="1737360"/>
          <a:ext cx="11064240" cy="288036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7040880"/>
                <a:gridCol w="109728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编号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优先级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F10.1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导入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初始库存 / 产品清单 / 库位清单 / BOM 批量导入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F10.2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导出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库存 / 流水 等数据导出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F10.3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 / 周 / 月报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自动汇总出入库,生成日报、周报、月报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F10.4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呆滞库存统计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统计长时间无变动的产品库存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F10.5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库位利用率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统计每个仓库/货架的库位使用率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F10.6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定时推送报表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报表通过邮件 / 企业微信推送(渠道待确认)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功能清单 v1.0 · 2026-06-20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功能模块 · 4.11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权限矩阵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三类角色 · 14 类功能 · 详细权限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548640" y="1737360"/>
          <a:ext cx="11064240" cy="4389120"/>
        </p:xfrm>
        <a:graphic>
          <a:graphicData uri="http://schemas.openxmlformats.org/drawingml/2006/table">
            <a:tbl>
              <a:tblPr/>
              <a:tblGrid>
                <a:gridCol w="3108960"/>
                <a:gridCol w="2651760"/>
                <a:gridCol w="2651760"/>
                <a:gridCol w="265176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操作员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管理员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老板 / 财务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查看库存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新增产品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申请 / 不可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只读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修改产品编码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新增别名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 / 待审核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入库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出库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库存调整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需审核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删除流水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不建议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查看 BOM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按权限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可选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修改 BOM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查看价格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可选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导出 Excel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可选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自定义仓库结构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产品 ID 维护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04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功能清单 v1.0 · 2026-06-20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功能模块汇总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第一版 MVP 范围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4F7FA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必做(P0)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产品管理:基础信息、别名、标签、图片、状态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库位与仓库:多仓库、库位编码、结构自定义、模板、特殊标记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出入库:入库 / 出库 / 移库 / 调整 / 撤销冲正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查询:模糊搜索、多维查询(系统核心)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6576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流水与日志:全留痕、不可真删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0233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BOM 基础管理 + 产能推算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3891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订单:基础、状态、批量导入、库存预留、匹配推算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47548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盘点:盘点单 / 实盘 / 差异审核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51206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预警:库存不足 / 订单冲突 / 并发 / 容量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54864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Excel 导入导出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58521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三角色权限管理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55448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37960" y="16916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明确不做(P1 / P2)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21945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伪 3D 货架图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25603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BOM 版本、替代料、多层 BOM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29260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日 / 周 / 月报、呆滞库存、利用率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9400" y="32918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产品价格管理(仅预留字段)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9400" y="36576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ERP 对接(单独评估)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40233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盘点定时提醒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29400" y="43891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最近使用快捷入口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29400" y="47548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拆分出库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51206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产品属性扩展、批次管理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29400" y="54864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定时推送报表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29400" y="58521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其他锦上添花功能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功能清单 v1.0 · 2026-06-20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待确认问题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必须现在答复(影响架构)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548640" y="1463040"/>
          <a:ext cx="11064240" cy="4608576"/>
        </p:xfrm>
        <a:graphic>
          <a:graphicData uri="http://schemas.openxmlformats.org/drawingml/2006/table">
            <a:tbl>
              <a:tblPr/>
              <a:tblGrid>
                <a:gridCol w="3931920"/>
                <a:gridCol w="4114800"/>
                <a:gridCol w="3017520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问题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为什么必须确认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客户答复</a:t>
                      </a:r>
                      <a:endParaRPr lang="en-US" sz="11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标签和别名是否分开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决定搜索和分类模型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每个产品支持几张图片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决定图片表结构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是否需要批次管理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决定库存按批次管理与否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是否记录采购 / 生产 / 入库日期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决定追溯粒度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是否有版本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决定配方能否历史追溯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不同批次原料 / 半成品是否追溯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决定批次链路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是否权限限制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配方涉及商业机密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特殊库位 / 消防栓 / 三列两筐 / 一筐多产品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决定库位模型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哪些功能不向哪些角色开放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决定权限矩阵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订单样式与来源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决定订单模块形态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数据存放方式(本地 / 云)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决定部署方案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是否有 ERP、能否提供 API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决定是否对接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盘点频率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决定盘点功能形态</a:t>
                      </a: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功能清单 v1.0 · 2026-06-20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待确认问题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可以后置(不影响第一版上线)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48640" y="1737360"/>
          <a:ext cx="11064240" cy="2743200"/>
        </p:xfrm>
        <a:graphic>
          <a:graphicData uri="http://schemas.openxmlformats.org/drawingml/2006/table">
            <a:tbl>
              <a:tblPr/>
              <a:tblGrid>
                <a:gridCol w="5943600"/>
                <a:gridCol w="512064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问题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建议处理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原材料价格、订单价格、出库价格如何安排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第一版先不做,或仅预留字段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复杂多层 BOM 推算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第二期再做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替代料逻辑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第二期再做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报表推送渠道(邮件 / 企业微信)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第二期确认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伪 3D 货架图细节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第二期确认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以上五项不阻塞第一版上线,可在二期评审时再细化。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功能清单 v1.0 · 2026-06-20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后续推进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确认后我们怎么走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21208" y="2194560"/>
            <a:ext cx="1325880" cy="15544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35915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3591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本清单签字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329184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P0/P1/P2 范围确认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05940" y="2743200"/>
            <a:ext cx="1645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20240" y="2194560"/>
            <a:ext cx="1325880" cy="15544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31720" y="235915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23591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65960" y="297180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问题答复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329184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个待确认全部明确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4972" y="2743200"/>
            <a:ext cx="1645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319272" y="2194560"/>
            <a:ext cx="1325880" cy="15544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0752" y="235915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0752" y="23591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64992" y="297180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编写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64992" y="329184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功能逐条展开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04004" y="2743200"/>
            <a:ext cx="1645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18304" y="2194560"/>
            <a:ext cx="1325880" cy="15544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29784" y="235915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9784" y="23591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64024" y="297180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原型设计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64024" y="329184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关键界面草图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03036" y="2743200"/>
            <a:ext cx="1645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17336" y="2194560"/>
            <a:ext cx="1325880" cy="15544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28816" y="235915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8816" y="23591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63056" y="297180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客户复核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63056" y="329184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+ 原型签字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02068" y="2743200"/>
            <a:ext cx="1645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516368" y="2194560"/>
            <a:ext cx="1325880" cy="15544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927848" y="235915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27848" y="23591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62088" y="297180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开发试点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562088" y="329184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 1 仓库试点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801100" y="2743200"/>
            <a:ext cx="1645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8915400" y="2194560"/>
            <a:ext cx="1325880" cy="15544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326880" y="235915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26880" y="23591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961120" y="297180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试点验收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961120" y="329184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对照成功标准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200132" y="2743200"/>
            <a:ext cx="1645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0314432" y="2194560"/>
            <a:ext cx="1325880" cy="15544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725912" y="2359152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725912" y="23591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360152" y="297180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全面铺开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360152" y="329184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推广至全部仓库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8640" y="457200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47548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立即开始 · 1 周内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77240" y="516636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签字确认 P0/P1/P2 范围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客户答复 13 个待定问题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双方明确试点仓库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309360" y="457200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 w="6350">
            <a:solidFill>
              <a:srgbClr val="DC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537960" y="47548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试点判断标准(示例)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537960" y="516636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库存数据准确率 &gt; 95%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找货平均耗时缩短 50%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出入库 100% 留痕、可追溯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功能清单 v1.0 · 2026-06-20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感谢配合</a:t>
            </a:r>
            <a:endParaRPr lang="en-US" sz="1400" dirty="0"/>
          </a:p>
        </p:txBody>
      </p:sp>
      <p:sp>
        <p:nvSpPr>
          <p:cNvPr id="21" name="Text 4"/>
          <p:cNvSpPr/>
          <p:nvPr/>
        </p:nvSpPr>
        <p:spPr>
          <a:xfrm>
            <a:off x="3038475" y="1931670"/>
            <a:ext cx="11086465" cy="271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Thank You</a:t>
            </a:r>
            <a:endParaRPr lang="en-US" sz="9600" dirty="0">
              <a:ln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9.03999999999996,&quot;left&quot;:57.6,&quot;top&quot;:129.6,&quot;width&quot;:864}"/>
</p:tagLst>
</file>

<file path=ppt/tags/tag2.xml><?xml version="1.0" encoding="utf-8"?>
<p:tagLst xmlns:p="http://schemas.openxmlformats.org/presentationml/2006/main">
  <p:tag name="KSO_WM_DIAGRAM_VIRTUALLY_FRAME" val="{&quot;height&quot;:329.03999999999996,&quot;left&quot;:57.6,&quot;top&quot;:129.6,&quot;width&quot;:864}"/>
</p:tagLst>
</file>

<file path=ppt/tags/tag3.xml><?xml version="1.0" encoding="utf-8"?>
<p:tagLst xmlns:p="http://schemas.openxmlformats.org/presentationml/2006/main">
  <p:tag name="KSO_WM_DIAGRAM_VIRTUALLY_FRAME" val="{&quot;height&quot;:329.03999999999996,&quot;left&quot;:57.6,&quot;top&quot;:129.6,&quot;width&quot;:864}"/>
</p:tagLst>
</file>

<file path=ppt/tags/tag4.xml><?xml version="1.0" encoding="utf-8"?>
<p:tagLst xmlns:p="http://schemas.openxmlformats.org/presentationml/2006/main">
  <p:tag name="KSO_WM_DIAGRAM_VIRTUALLY_FRAME" val="{&quot;height&quot;:329.03999999999996,&quot;left&quot;:57.6,&quot;top&quot;:129.6,&quot;width&quot;:864}"/>
</p:tagLst>
</file>

<file path=ppt/tags/tag5.xml><?xml version="1.0" encoding="utf-8"?>
<p:tagLst xmlns:p="http://schemas.openxmlformats.org/presentationml/2006/main">
  <p:tag name="KSO_WM_DIAGRAM_VIRTUALLY_FRAME" val="{&quot;height&quot;:329.03999999999996,&quot;left&quot;:57.6,&quot;top&quot;:129.6,&quot;width&quot;:864}"/>
</p:tagLst>
</file>

<file path=ppt/tags/tag6.xml><?xml version="1.0" encoding="utf-8"?>
<p:tagLst xmlns:p="http://schemas.openxmlformats.org/presentationml/2006/main">
  <p:tag name="KSO_WM_DIAGRAM_VIRTUALLY_FRAME" val="{&quot;height&quot;:329.03999999999996,&quot;left&quot;:57.6,&quot;top&quot;:129.6,&quot;width&quot;:864}"/>
</p:tagLst>
</file>

<file path=ppt/tags/tag7.xml><?xml version="1.0" encoding="utf-8"?>
<p:tagLst xmlns:p="http://schemas.openxmlformats.org/presentationml/2006/main">
  <p:tag name="KSO_WM_DIAGRAM_VIRTUALLY_FRAME" val="{&quot;height&quot;:329.03999999999996,&quot;left&quot;:57.6,&quot;top&quot;:129.6,&quot;width&quot;:864}"/>
</p:tagLst>
</file>

<file path=ppt/tags/tag8.xml><?xml version="1.0" encoding="utf-8"?>
<p:tagLst xmlns:p="http://schemas.openxmlformats.org/presentationml/2006/main">
  <p:tag name="KSO_WM_DIAGRAM_VIRTUALLY_FRAME" val="{&quot;height&quot;:329.03999999999996,&quot;left&quot;:57.6,&quot;top&quot;:129.6,&quot;width&quot;:864}"/>
</p:tagLst>
</file>

<file path=ppt/tags/tag9.xml><?xml version="1.0" encoding="utf-8"?>
<p:tagLst xmlns:p="http://schemas.openxmlformats.org/presentationml/2006/main">
  <p:tag name="KSO_WM_DIAGRAM_VIRTUALLY_FRAME" val="{&quot;height&quot;:329.03999999999996,&quot;left&quot;:57.6,&quot;top&quot;:129.6,&quot;width&quot;:864}"/>
</p:tagLst>
</file>

<file path=ppt/tags/tag10.xml><?xml version="1.0" encoding="utf-8"?>
<p:tagLst xmlns:p="http://schemas.openxmlformats.org/presentationml/2006/main">
  <p:tag name="KSO_WM_DIAGRAM_VIRTUALLY_FRAME" val="{&quot;height&quot;:329.03999999999996,&quot;left&quot;:57.6,&quot;top&quot;:129.6,&quot;width&quot;:864}"/>
</p:tagLst>
</file>

<file path=ppt/tags/tag11.xml><?xml version="1.0" encoding="utf-8"?>
<p:tagLst xmlns:p="http://schemas.openxmlformats.org/presentationml/2006/main">
  <p:tag name="KSO_WM_DIAGRAM_VIRTUALLY_FRAME" val="{&quot;height&quot;:329.03999999999996,&quot;left&quot;:57.6,&quot;top&quot;:129.6,&quot;width&quot;:864}"/>
</p:tagLst>
</file>

<file path=ppt/tags/tag12.xml><?xml version="1.0" encoding="utf-8"?>
<p:tagLst xmlns:p="http://schemas.openxmlformats.org/presentationml/2006/main">
  <p:tag name="KSO_WM_DIAGRAM_VIRTUALLY_FRAME" val="{&quot;height&quot;:329.03999999999996,&quot;left&quot;:57.6,&quot;top&quot;:129.6,&quot;width&quot;:864}"/>
</p:tagLst>
</file>

<file path=ppt/tags/tag13.xml><?xml version="1.0" encoding="utf-8"?>
<p:tagLst xmlns:p="http://schemas.openxmlformats.org/presentationml/2006/main">
  <p:tag name="KSO_WM_DIAGRAM_VIRTUALLY_FRAME" val="{&quot;height&quot;:329.03999999999996,&quot;left&quot;:57.6,&quot;top&quot;:129.6,&quot;width&quot;:864}"/>
</p:tagLst>
</file>

<file path=ppt/tags/tag14.xml><?xml version="1.0" encoding="utf-8"?>
<p:tagLst xmlns:p="http://schemas.openxmlformats.org/presentationml/2006/main">
  <p:tag name="KSO_WM_DIAGRAM_VIRTUALLY_FRAME" val="{&quot;height&quot;:329.03999999999996,&quot;left&quot;:57.6,&quot;top&quot;:129.6,&quot;width&quot;:864}"/>
</p:tagLst>
</file>

<file path=ppt/tags/tag15.xml><?xml version="1.0" encoding="utf-8"?>
<p:tagLst xmlns:p="http://schemas.openxmlformats.org/presentationml/2006/main">
  <p:tag name="KSO_WM_DIAGRAM_VIRTUALLY_FRAME" val="{&quot;height&quot;:329.03999999999996,&quot;left&quot;:57.6,&quot;top&quot;:129.6,&quot;width&quot;:864}"/>
</p:tagLst>
</file>

<file path=ppt/tags/tag16.xml><?xml version="1.0" encoding="utf-8"?>
<p:tagLst xmlns:p="http://schemas.openxmlformats.org/presentationml/2006/main">
  <p:tag name="KSO_WM_DIAGRAM_VIRTUALLY_FRAME" val="{&quot;height&quot;:329.03999999999996,&quot;left&quot;:57.6,&quot;top&quot;:129.6,&quot;width&quot;:86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5002</Words>
  <Application>WPS 文字</Application>
  <PresentationFormat>On-screen Show (16:9)</PresentationFormat>
  <Paragraphs>1202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6" baseType="lpstr">
      <vt:lpstr>Arial</vt:lpstr>
      <vt:lpstr>宋体</vt:lpstr>
      <vt:lpstr>Wingdings</vt:lpstr>
      <vt:lpstr>Calibri</vt:lpstr>
      <vt:lpstr>Helvetica Neue</vt:lpstr>
      <vt:lpstr>Calibri</vt:lpstr>
      <vt:lpstr>Calibri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WMS 功能清单</dc:title>
  <dc:creator>WMS Project Team</dc:creator>
  <dc:subject>PptxGenJS Presentation</dc:subject>
  <cp:lastModifiedBy>✨DDDyangyang..</cp:lastModifiedBy>
  <cp:revision>3</cp:revision>
  <dcterms:created xsi:type="dcterms:W3CDTF">2026-06-20T05:13:34Z</dcterms:created>
  <dcterms:modified xsi:type="dcterms:W3CDTF">2026-06-20T05:13:34Z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9632817D59D2B3966320366A51540B2F_42</vt:lpwstr>
  </property>
  <property fmtid="{D5CDD505-2E9C-101B-9397-08002B2CF9AE}" pid="3" name="KSOProductBuildVer">
    <vt:lpwstr>2052-12.1.25869.25869</vt:lpwstr>
  </property>
</Properties>
</file>